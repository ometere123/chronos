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429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Time-locked USDC savings, credit, and autonomous settlement on Arc Testnet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052560" y="502920"/>
            <a:ext cx="2926080" cy="2926080"/>
          </a:xfrm>
          <a:prstGeom prst="ellipse">
            <a:avLst/>
          </a:prstGeom>
          <a:ln w="19050">
            <a:solidFill>
              <a:srgbClr val="FCA3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914400"/>
            <a:ext cx="2103120" cy="2103120"/>
          </a:xfrm>
          <a:prstGeom prst="ellipse">
            <a:avLst/>
          </a:prstGeom>
          <a:ln w="15875">
            <a:solidFill>
              <a:srgbClr val="3E4E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1371600"/>
            <a:ext cx="1188720" cy="11887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Arc Hackathon  •  Checkpoint 2 Submission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58064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806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Track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5806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Economy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discipline and DeFi liquidity are a trade-off, not a package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1F2E52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assets/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5623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funds means giving up access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Time-locks protect against impulsive withdrawals, but a real emergency, or a better opportunity, leaves the saver stuck until maturity.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600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1F2E5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187452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0" name="Image 1" descr="assets/trend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934" y="20290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85623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lump-sum unlock is a blunt tool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629400" y="2560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savings goals need structure: some funds for safety, some for growth, some released gradually, not everything unlocking on one date.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1F2E52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5" name="Image 2" descr="assets/doll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4979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32511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against locked collateral is clunky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2960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protocols make you choose between staying locked and getting liquidity. Bridging that collateral into usable credit is rarely simple, or safe.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55080" y="4069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1F2E52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29400" y="434340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0" name="Image 3" descr="asset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44979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32511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to babysit their own vaults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629400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at maturity, monitoring price conditions, moving funds across chains: all manual, all easy to forget, all a source of missed value.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Chronos: programmable time-locked vaults, with liquidity and automation built 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is a USDC vault protocol on Arc Testnet, Circle's stablecoin-native chain. Users deposit from Base, Arbitrum, Ethereum, or OP Sepolia via Circle's CCTP, and the deposit settles into an on-chain vault on Arc, with the discipline of a time-lock and the flexibility of modern DeFi.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395728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asset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5146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92608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Split Vaults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22783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deposit, auto-allocated into savings, yield, and reserve buckets, each claimable on its own.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70832" y="21945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0288" y="2395728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assets/repea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146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2608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Vaults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0288" y="322783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 deposit gradually over scheduled tranches instead of one lump sum at maturity.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3024" y="21945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395728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6" name="Image 2" descr="asset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5146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92608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Oracle-Gated Unlocks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12480" y="322783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price condition or treasury-balance guard on top of the time-lock, enforced on-chain.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178808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68096" y="4379976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3" descr="assets/doll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49884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" y="491032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CreditLine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68096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USDC against a locked vault as collateral, without breaking the lock or waiting for maturity.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70832" y="4178808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0288" y="4379976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4" descr="assets/cpu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498848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0288" y="491032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90288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a vault to an agent that claims it automatically at maturity, gas-sponsored, no manual click needed.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93024" y="4178808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412480" y="4379976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31" name="Image 5" descr="assets/lin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498848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91032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via CCTP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12480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USDC bridging in and back out, no wrapped assets, no synthetic representations.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from any chain to a settled vault on Arc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14213D"/>
          </a:solidFill>
          <a:ln/>
        </p:spPr>
      </p:sp>
      <p:sp>
        <p:nvSpPr>
          <p:cNvPr id="4" name="Shape 2"/>
          <p:cNvSpPr/>
          <p:nvPr/>
        </p:nvSpPr>
        <p:spPr>
          <a:xfrm>
            <a:off x="1211580" y="2633472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5" name="Image 0" descr="assets/dollar_1421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001" y="2799893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" y="333756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USDC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70332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Arbitrum / Ethereum / OP Sepolia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562949" y="3017520"/>
            <a:ext cx="224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30754" y="23774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14213D"/>
          </a:solidFill>
          <a:ln/>
        </p:spPr>
      </p:sp>
      <p:sp>
        <p:nvSpPr>
          <p:cNvPr id="11" name="Shape 8"/>
          <p:cNvSpPr/>
          <p:nvPr/>
        </p:nvSpPr>
        <p:spPr>
          <a:xfrm>
            <a:off x="3493694" y="2633472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2" name="Image 1" descr="assets/link_1421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115" y="279989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3906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40482" y="333756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via CCTP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40482" y="370332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Circle's native burn-and-mint transfer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45063" y="3017520"/>
            <a:ext cx="224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12868" y="23774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14213D"/>
          </a:solidFill>
          <a:ln/>
        </p:spPr>
      </p:sp>
      <p:sp>
        <p:nvSpPr>
          <p:cNvPr id="18" name="Shape 14"/>
          <p:cNvSpPr/>
          <p:nvPr/>
        </p:nvSpPr>
        <p:spPr>
          <a:xfrm>
            <a:off x="5775808" y="2633472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9" name="Image 2" descr="assets/clock_1421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28" y="2799893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8602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222596" y="333756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into a vault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222596" y="370332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on Arc Testnet, terms locked in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127177" y="3017520"/>
            <a:ext cx="224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7394981" y="23774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14213D"/>
          </a:solidFill>
          <a:ln/>
        </p:spPr>
      </p:sp>
      <p:sp>
        <p:nvSpPr>
          <p:cNvPr id="25" name="Shape 20"/>
          <p:cNvSpPr/>
          <p:nvPr/>
        </p:nvSpPr>
        <p:spPr>
          <a:xfrm>
            <a:off x="8057921" y="2633472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6" name="Image 3" descr="assets/zap_14213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342" y="2799893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68133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504709" y="333756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Grow, borrow, or wait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504709" y="370332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stream, or use as CreditLine collateral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9409290" y="3017520"/>
            <a:ext cx="224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9677095" y="2377440"/>
            <a:ext cx="1965960" cy="1737360"/>
          </a:xfrm>
          <a:prstGeom prst="roundRect">
            <a:avLst>
              <a:gd name="adj" fmla="val 4737"/>
            </a:avLst>
          </a:prstGeom>
          <a:solidFill>
            <a:srgbClr val="14213D"/>
          </a:solidFill>
          <a:ln/>
        </p:spPr>
      </p:sp>
      <p:sp>
        <p:nvSpPr>
          <p:cNvPr id="32" name="Shape 26"/>
          <p:cNvSpPr/>
          <p:nvPr/>
        </p:nvSpPr>
        <p:spPr>
          <a:xfrm>
            <a:off x="10340035" y="2633472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33" name="Image 4" descr="assets/check_14213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6456" y="2799893"/>
            <a:ext cx="307238" cy="30723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50247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9786823" y="333756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at maturity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9786823" y="370332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Manually, or automatically via the agent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leg, deposit, split/stream logic, oracle checks, and CreditLine borrow/repay, is enforced by TimeLockVault and CreditLine smart contracts on Arc, not a backend database.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vault primitive, four ways to structure a deposit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assets/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739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1214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/ FLEXIBLE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lump-sum unlock at maturity. FIXED vaults cannot be withdrawn early; FLEXIBLE vaults allow early exit for a 0.5% penalty.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82880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1" name="Image 1" descr="asset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934" y="19833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7739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Split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06640" y="21214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/ YIELD / RESERVE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629400" y="25603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deposit is auto-allocated across three named buckets by basis points at creation, each claimed independently at maturity.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7" name="Image 2" descr="assets/repea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43607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1513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00200" y="4498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TRANCHES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22960" y="4937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deposit in equal tranches at a fixed interval instead of all at once, useful for payroll-style or gradual-release goals.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35508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</p:spPr>
      </p:sp>
      <p:sp>
        <p:nvSpPr>
          <p:cNvPr id="22" name="Shape 17"/>
          <p:cNvSpPr/>
          <p:nvPr/>
        </p:nvSpPr>
        <p:spPr>
          <a:xfrm>
            <a:off x="6629400" y="420624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3" name="Image 3" descr="asset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436077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06640" y="41513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Oracle-Gated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406640" y="4498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629400" y="4937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price threshold (via a Band Protocol or mock oracle feed) or a treasury-balance guard on top of the time-lock itself.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 Track: CreditLine turns a locked vault into usable credit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vault does not have to sit idle until maturity. CreditLine is a lending pool that treats an active Chronos vault as collateral, letting the owner borrow USDC now and repay later, while independent lenders earn interest by supplying liquidity.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5" name="Image 0" descr="assets/doll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31482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9992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651760" y="2999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vault as collateral and borrow USDC up to a fixed loan-to-value cap, directly from the pool.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73075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9" name="Image 1" descr="assets/repea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86151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7124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51760" y="37124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 principal plus interest at any time to unlock the vault's collateral again.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4443984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2" descr="assets/trend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574743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4256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51760" y="44256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deposit USDC into the pool and earn a pro-rata share of borrower interest.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452360" y="1371600"/>
            <a:ext cx="4160520" cy="4434840"/>
          </a:xfrm>
          <a:prstGeom prst="roundRect">
            <a:avLst>
              <a:gd name="adj" fmla="val 2637"/>
            </a:avLst>
          </a:prstGeom>
          <a:solidFill>
            <a:srgbClr val="14213D"/>
          </a:solidFill>
          <a:ln/>
        </p:spPr>
      </p:sp>
      <p:sp>
        <p:nvSpPr>
          <p:cNvPr id="17" name="Text 12"/>
          <p:cNvSpPr/>
          <p:nvPr/>
        </p:nvSpPr>
        <p:spPr>
          <a:xfrm>
            <a:off x="7452360" y="16916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5600" dirty="0"/>
          </a:p>
        </p:txBody>
      </p:sp>
      <p:sp>
        <p:nvSpPr>
          <p:cNvPr id="18" name="Text 13"/>
          <p:cNvSpPr/>
          <p:nvPr/>
        </p:nvSpPr>
        <p:spPr>
          <a:xfrm>
            <a:off x="7452360" y="2514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loan-to-value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955280" y="3063240"/>
            <a:ext cx="3154680" cy="0"/>
          </a:xfrm>
          <a:prstGeom prst="line">
            <a:avLst/>
          </a:prstGeom>
          <a:noFill/>
          <a:ln w="12700">
            <a:solidFill>
              <a:srgbClr val="3E4E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0" y="3291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sale of the underlying vault, no giving up the original time-lock terms, and repayment restores full ownership of the collateral.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772400" y="5120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Collateral: active Chronos vault  •  Asset: USDC  •  Interest: flat, per loan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Economy Track: an agent that acts, not just chats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vault owner can delegate their vault to the Chronos maintenance agent. At maturity, the agent submits the on-chain claim on the owner's behalf, no manual click, no missed unlock window, no gas paid by the user.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F2E52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74320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6" name="Image 0" descr="assets/users_1421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29096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owner authorizes a specific agent address to call claimVault() on their vault via an on-chain delegate mapping.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2423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F2E52"/>
          </a:solidFill>
          <a:ln/>
        </p:spPr>
      </p:sp>
      <p:sp>
        <p:nvSpPr>
          <p:cNvPr id="10" name="Shape 7"/>
          <p:cNvSpPr/>
          <p:nvPr/>
        </p:nvSpPr>
        <p:spPr>
          <a:xfrm>
            <a:off x="4393692" y="274320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1" name="Image 1" descr="assets/cpu_1421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113" y="29096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Wallets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39776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operates from a Circle Developer-Controlled Wallet, a real, independently-held on-chain identity, not a shared backend key.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2423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F2E52"/>
          </a:solidFill>
          <a:ln/>
        </p:spPr>
      </p:sp>
      <p:sp>
        <p:nvSpPr>
          <p:cNvPr id="15" name="Shape 11"/>
          <p:cNvSpPr/>
          <p:nvPr/>
        </p:nvSpPr>
        <p:spPr>
          <a:xfrm>
            <a:off x="7255764" y="274320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6" name="Image 2" descr="assets/zap_1421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185" y="29096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Sponsorship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01384" y="39776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sponsored through Pimlico's ERC-4337 paymaster, so the agent (and the user) never needs to hold native gas token to act.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2423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F2E52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17836" y="274320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1" name="Image 3" descr="assets/check_14213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4257" y="29096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Claim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63456" y="39776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delegated vault matures, the agent detects it and submits the claim itself, on schedule, without a person in the loop.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 infrastructure, not a simulation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&amp; Contracts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2496312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3500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Testnet, Circle's stablecoin-native L1 (native USDC gas)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3118104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971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TimeLockVault.sol, CreditLine.sol, ScheduledPayment.sol (Solidity / Hardhat)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73989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5935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CCTP for native cross-chain USDC (Base, Arbitrum, Ethereum, OP Sepolia)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361688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2153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Protocol oracle adapter for live price-gated unlocks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4983480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837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Developer-Controlled Wallets for the autonomous agent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5605272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5458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Pimlico bundler + paymaster (ERC-4337) for gas sponsorship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828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75120" y="2496312"/>
            <a:ext cx="82296" cy="8229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6922008" y="23500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 and React frontend, Tailwind CSS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75120" y="3118104"/>
            <a:ext cx="82296" cy="8229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2971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Privy for authentication and embedded wallets (email or external wallet, one flow)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3739896"/>
            <a:ext cx="82296" cy="8229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6922008" y="35935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backend, ethers.js for contract reads and relayed writes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75120" y="4361688"/>
            <a:ext cx="82296" cy="8229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6" name="Text 24"/>
          <p:cNvSpPr/>
          <p:nvPr/>
        </p:nvSpPr>
        <p:spPr>
          <a:xfrm>
            <a:off x="6922008" y="42153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for off-chain indexing and bridge-transaction tracking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4983480"/>
            <a:ext cx="82296" cy="8229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8" name="Text 26"/>
          <p:cNvSpPr/>
          <p:nvPr/>
        </p:nvSpPr>
        <p:spPr>
          <a:xfrm>
            <a:off x="6922008" y="4837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Query, Zustand, viem, Recharts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0" y="5605272"/>
            <a:ext cx="82296" cy="82296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0" name="Text 28"/>
          <p:cNvSpPr/>
          <p:nvPr/>
        </p:nvSpPr>
        <p:spPr>
          <a:xfrm>
            <a:off x="6922008" y="5458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proof-of-reserves, verified directly against on-chain contract state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build stands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modes live on testnet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(Fixed, Flexible, Split, Streaming,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Oracle-Gated, Delegated)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6459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1828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66344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chains supported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CCTP deposits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0" y="16459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8288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54964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auth flow: email or wallet,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Privy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on live testnet transactions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274320" cy="274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0" descr="asset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4780483"/>
            <a:ext cx="131674" cy="1316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login to funded embedded wallet, with zero extra wallet pop-ups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010912"/>
            <a:ext cx="274320" cy="274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7" name="Image 1" descr="asset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5082235"/>
            <a:ext cx="131674" cy="1316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05840" y="49834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CCTP round trip: deposit, bridge, settle, claim back to source or to Arc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5312664"/>
            <a:ext cx="274320" cy="274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0" name="Image 2" descr="asset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383987"/>
            <a:ext cx="131674" cy="1316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52852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withdrawal with penalty on FLEXIBLE vaults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614416"/>
            <a:ext cx="274320" cy="274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3" name="Image 3" descr="asset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" y="5685739"/>
            <a:ext cx="131674" cy="13167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558698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Split vault creation and independent per-bucket claims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916168"/>
            <a:ext cx="274320" cy="2743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4" descr="asset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5987491"/>
            <a:ext cx="131674" cy="1316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58887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CreditLine borrow, repay, and third-party lending deposits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206240"/>
            <a:ext cx="2926080" cy="2926080"/>
          </a:xfrm>
          <a:prstGeom prst="ellipse">
            <a:avLst/>
          </a:prstGeom>
          <a:ln w="19050">
            <a:solidFill>
              <a:srgbClr val="FCA3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4617720"/>
            <a:ext cx="2103120" cy="2103120"/>
          </a:xfrm>
          <a:prstGeom prst="ellipse">
            <a:avLst/>
          </a:prstGeom>
          <a:ln w="15875">
            <a:solidFill>
              <a:srgbClr val="3E4E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Chronos: lock with discipline, unlock with intelligence.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0" y="4297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github.com/ometere123/chronos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4754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(Circle)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212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5212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 •  Agentic Economy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 •  Build on Arc Hackathon  •  Checkpoint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2026-08-02T19:33:14Z</dcterms:created>
  <dcterms:modified xsi:type="dcterms:W3CDTF">2026-08-02T19:33:14Z</dcterms:modified>
</cp:coreProperties>
</file>